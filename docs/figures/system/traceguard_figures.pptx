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6032" y="2542032"/>
            <a:ext cx="1664208" cy="2212848"/>
          </a:xfrm>
          <a:prstGeom prst="roundRect">
            <a:avLst>
              <a:gd name="adj" fmla="val 4500"/>
            </a:avLst>
          </a:prstGeom>
          <a:solidFill>
            <a:srgbClr val="FCF6D8"/>
          </a:solidFill>
          <a:ln w="17780">
            <a:solidFill>
              <a:srgbClr val="A0A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0896" y="2615184"/>
            <a:ext cx="155448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700" b="1" u="sng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" y="3072384"/>
            <a:ext cx="1207008" cy="960120"/>
          </a:xfrm>
          <a:prstGeom prst="rect">
            <a:avLst/>
          </a:prstGeom>
          <a:solidFill>
            <a:srgbClr val="FFFFFF"/>
          </a:solidFill>
          <a:ln w="1778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9496" y="3127248"/>
            <a:ext cx="1097280" cy="528066"/>
          </a:xfrm>
          <a:prstGeom prst="rect">
            <a:avLst/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2976" y="3206800"/>
            <a:ext cx="217261" cy="217261"/>
          </a:xfrm>
          <a:prstGeom prst="ellipse">
            <a:avLst/>
          </a:prstGeom>
          <a:solidFill>
            <a:srgbClr val="F6C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>
            <a:off x="629472" y="3360420"/>
            <a:ext cx="603504" cy="384048"/>
          </a:xfrm>
          <a:prstGeom prst="triangle">
            <a:avLst/>
          </a:prstGeom>
          <a:solidFill>
            <a:srgbClr val="7FB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>
            <a:off x="991575" y="3398824"/>
            <a:ext cx="531083" cy="345643"/>
          </a:xfrm>
          <a:prstGeom prst="triangle">
            <a:avLst/>
          </a:prstGeom>
          <a:solidFill>
            <a:srgbClr val="5F93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9496" y="3667658"/>
            <a:ext cx="1097280" cy="307238"/>
          </a:xfrm>
          <a:prstGeom prst="rect">
            <a:avLst/>
          </a:prstGeom>
          <a:solidFill>
            <a:srgbClr val="E9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096512"/>
            <a:ext cx="1627632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450" b="1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单张 RGB 图像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1627632"/>
            <a:ext cx="3310128" cy="3840480"/>
          </a:xfrm>
          <a:prstGeom prst="roundRect">
            <a:avLst>
              <a:gd name="adj" fmla="val 4500"/>
            </a:avLst>
          </a:prstGeom>
          <a:solidFill>
            <a:srgbClr val="E7E0F0"/>
          </a:solidFill>
          <a:ln w="17780">
            <a:solidFill>
              <a:srgbClr val="A0A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95144" y="1700784"/>
            <a:ext cx="320040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700" b="1" u="sng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跨域 AIGC 检测模块（核心）</a:t>
            </a:r>
          </a:p>
        </p:txBody>
      </p:sp>
      <p:pic>
        <p:nvPicPr>
          <p:cNvPr id="13" name="Picture 12" descr="backb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116" y="2148840"/>
            <a:ext cx="3082742" cy="1417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59152" y="3529584"/>
            <a:ext cx="3090672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5E5E5E"/>
                </a:solidFill>
                <a:latin typeface="Microsoft YaHei"/>
                <a:ea typeface="Microsoft YaHei"/>
                <a:cs typeface="Microsoft YaHei"/>
              </a:rPr>
              <a:t>MambaOut-Small 去全局池化骨干（2304→256）</a:t>
            </a:r>
          </a:p>
        </p:txBody>
      </p:sp>
      <p:pic>
        <p:nvPicPr>
          <p:cNvPr id="15" name="Picture 14" descr="mkmm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929" y="3913632"/>
            <a:ext cx="1450676" cy="1170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24528" y="4041648"/>
            <a:ext cx="1298448" cy="9601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3000"/>
              </a:lnSpc>
            </a:pPr>
            <a:r>
              <a:rPr sz="1400" b="1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MK-MMD</a:t>
            </a:r>
          </a:p>
          <a:p>
            <a:pPr algn="l">
              <a:lnSpc>
                <a:spcPct val="103000"/>
              </a:lnSpc>
            </a:pPr>
            <a:r>
              <a:rPr sz="1400" b="1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无监督</a:t>
            </a:r>
          </a:p>
          <a:p>
            <a:pPr algn="l">
              <a:lnSpc>
                <a:spcPct val="103000"/>
              </a:lnSpc>
            </a:pPr>
            <a:r>
              <a:rPr sz="1400" b="1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域自适应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786384"/>
            <a:ext cx="2487168" cy="1993392"/>
          </a:xfrm>
          <a:prstGeom prst="roundRect">
            <a:avLst>
              <a:gd name="adj" fmla="val 4500"/>
            </a:avLst>
          </a:prstGeom>
          <a:solidFill>
            <a:srgbClr val="FBE7D3"/>
          </a:solidFill>
          <a:ln w="17780">
            <a:solidFill>
              <a:srgbClr val="A0A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15583" y="859536"/>
            <a:ext cx="2377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600" b="1" u="sng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可解释模块</a:t>
            </a:r>
          </a:p>
        </p:txBody>
      </p:sp>
      <p:pic>
        <p:nvPicPr>
          <p:cNvPr id="19" name="Picture 18" descr="gradc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2" y="1307592"/>
            <a:ext cx="1170432" cy="11704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78040" y="1298448"/>
            <a:ext cx="1005840" cy="11887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Stage2</a:t>
            </a:r>
          </a:p>
          <a:p>
            <a:pPr algn="l">
              <a:lnSpc>
                <a:spcPct val="103000"/>
              </a:lnSpc>
            </a:pPr>
            <a:r>
              <a:rPr sz="13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14×14</a:t>
            </a:r>
          </a:p>
          <a:p>
            <a:pPr algn="l">
              <a:lnSpc>
                <a:spcPct val="103000"/>
              </a:lnSpc>
            </a:pPr>
            <a:r>
              <a:rPr sz="13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Grad-CAM</a:t>
            </a:r>
          </a:p>
          <a:p>
            <a:pPr algn="l">
              <a:lnSpc>
                <a:spcPct val="103000"/>
              </a:lnSpc>
            </a:pPr>
            <a:r>
              <a:rPr sz="13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热力图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4443984"/>
            <a:ext cx="2487168" cy="1847088"/>
          </a:xfrm>
          <a:prstGeom prst="roundRect">
            <a:avLst>
              <a:gd name="adj" fmla="val 4500"/>
            </a:avLst>
          </a:prstGeom>
          <a:solidFill>
            <a:srgbClr val="DAECEC"/>
          </a:solidFill>
          <a:ln w="17780">
            <a:solidFill>
              <a:srgbClr val="A0A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5583" y="4517136"/>
            <a:ext cx="237744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600" b="1" u="sng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篡改定位模块</a:t>
            </a:r>
          </a:p>
        </p:txBody>
      </p:sp>
      <p:pic>
        <p:nvPicPr>
          <p:cNvPr id="23" name="Picture 22" descr="b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2" y="4956048"/>
            <a:ext cx="1170432" cy="11704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78040" y="4974336"/>
            <a:ext cx="1005840" cy="11430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3000"/>
              </a:lnSpc>
            </a:pPr>
            <a:r>
              <a:rPr sz="13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多尺度滑窗</a:t>
            </a:r>
          </a:p>
          <a:p>
            <a:pPr algn="l">
              <a:lnSpc>
                <a:spcPct val="103000"/>
              </a:lnSpc>
            </a:pPr>
            <a:r>
              <a:rPr sz="13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+特征统计</a:t>
            </a:r>
          </a:p>
          <a:p>
            <a:pPr algn="l">
              <a:lnSpc>
                <a:spcPct val="103000"/>
              </a:lnSpc>
            </a:pPr>
            <a:r>
              <a:rPr sz="13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四象限</a:t>
            </a:r>
          </a:p>
          <a:p>
            <a:pPr algn="l">
              <a:lnSpc>
                <a:spcPct val="103000"/>
              </a:lnSpc>
            </a:pPr>
            <a:r>
              <a:rPr sz="13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分类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85632" y="2103120"/>
            <a:ext cx="2212848" cy="3017520"/>
          </a:xfrm>
          <a:prstGeom prst="roundRect">
            <a:avLst>
              <a:gd name="adj" fmla="val 4500"/>
            </a:avLst>
          </a:prstGeom>
          <a:solidFill>
            <a:srgbClr val="DDEBD8"/>
          </a:solidFill>
          <a:ln w="17780">
            <a:solidFill>
              <a:srgbClr val="A0A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40496" y="2176272"/>
            <a:ext cx="2103120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600" b="1" u="sng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多证据风险融合</a:t>
            </a:r>
          </a:p>
        </p:txBody>
      </p:sp>
      <p:pic>
        <p:nvPicPr>
          <p:cNvPr id="27" name="Picture 26" descr="ba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1120" y="2615184"/>
            <a:ext cx="1421871" cy="10789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577072" y="3639312"/>
            <a:ext cx="2048256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300" b="1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五维加权 → risk_score</a:t>
            </a:r>
          </a:p>
        </p:txBody>
      </p:sp>
      <p:pic>
        <p:nvPicPr>
          <p:cNvPr id="29" name="Picture 28" descr="gau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9374" y="3986784"/>
            <a:ext cx="1423650" cy="8412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577072" y="4791456"/>
            <a:ext cx="2048256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30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risk_level（低 / 中 / 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71632" y="1170432"/>
            <a:ext cx="1371600" cy="31089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450" b="1" u="sng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三层输出合同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89920" y="1572768"/>
            <a:ext cx="1371600" cy="1188720"/>
          </a:xfrm>
          <a:prstGeom prst="roundRect">
            <a:avLst>
              <a:gd name="adj" fmla="val 13000"/>
            </a:avLst>
          </a:prstGeom>
          <a:solidFill>
            <a:srgbClr val="E7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3000"/>
              </a:lnSpc>
            </a:pPr>
            <a:r>
              <a:rPr sz="1250" b="1" u="none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全局判断</a:t>
            </a:r>
          </a:p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label</a:t>
            </a:r>
          </a:p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fake_prob</a:t>
            </a:r>
          </a:p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2E8B3D"/>
                </a:solidFill>
                <a:latin typeface="Microsoft YaHei"/>
                <a:ea typeface="Microsoft YaHei"/>
                <a:cs typeface="Microsoft YaHei"/>
              </a:rPr>
              <a:t>Real </a:t>
            </a:r>
            <a:r>
              <a:rPr sz="1250" b="0" u="none">
                <a:solidFill>
                  <a:srgbClr val="2E8B3D"/>
                </a:solidFill>
                <a:latin typeface="Microsoft YaHei"/>
                <a:ea typeface="Microsoft YaHei"/>
                <a:cs typeface="Microsoft YaHei"/>
              </a:rPr>
              <a:t>✓ </a:t>
            </a:r>
            <a:r>
              <a:rPr sz="1250" b="0" u="none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Fake </a:t>
            </a:r>
            <a:r>
              <a:rPr sz="1250" b="0" u="none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789920" y="2907792"/>
            <a:ext cx="1371600" cy="1115568"/>
          </a:xfrm>
          <a:prstGeom prst="roundRect">
            <a:avLst>
              <a:gd name="adj" fmla="val 13000"/>
            </a:avLst>
          </a:prstGeom>
          <a:solidFill>
            <a:srgbClr val="FBE7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3000"/>
              </a:lnSpc>
            </a:pPr>
            <a:r>
              <a:rPr sz="1250" b="1" u="none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局部证据</a:t>
            </a:r>
          </a:p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heatmap</a:t>
            </a:r>
          </a:p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mask / bbox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789920" y="4169663"/>
            <a:ext cx="1371600" cy="1115568"/>
          </a:xfrm>
          <a:prstGeom prst="roundRect">
            <a:avLst>
              <a:gd name="adj" fmla="val 13000"/>
            </a:avLst>
          </a:prstGeom>
          <a:solidFill>
            <a:srgbClr val="D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3000"/>
              </a:lnSpc>
            </a:pPr>
            <a:r>
              <a:rPr sz="1250" b="1" u="none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融合结论</a:t>
            </a:r>
          </a:p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risk_score</a:t>
            </a:r>
          </a:p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risk_level / 报告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920240" y="3611880"/>
            <a:ext cx="320040" cy="0"/>
          </a:xfrm>
          <a:prstGeom prst="line">
            <a:avLst/>
          </a:prstGeom>
          <a:ln w="31750">
            <a:solidFill>
              <a:srgbClr val="4A4A5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550408" y="3611880"/>
            <a:ext cx="2935224" cy="0"/>
          </a:xfrm>
          <a:prstGeom prst="line">
            <a:avLst/>
          </a:prstGeom>
          <a:ln w="57150">
            <a:solidFill>
              <a:srgbClr val="1E1E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760720" y="3209544"/>
            <a:ext cx="2487168" cy="310896"/>
          </a:xfrm>
          <a:prstGeom prst="rect">
            <a:avLst/>
          </a:prstGeom>
          <a:noFill/>
        </p:spPr>
        <p:txBody>
          <a:bodyPr wrap="square" anchor="b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350" b="1" u="none">
                <a:solidFill>
                  <a:srgbClr val="1E1E1E"/>
                </a:solidFill>
                <a:latin typeface="Microsoft YaHei"/>
                <a:ea typeface="Microsoft YaHei"/>
                <a:cs typeface="Microsoft YaHei"/>
              </a:rPr>
              <a:t>唯一权威判定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5550408" y="1783080"/>
            <a:ext cx="210312" cy="1280160"/>
          </a:xfrm>
          <a:prstGeom prst="line">
            <a:avLst/>
          </a:prstGeom>
          <a:ln w="25400">
            <a:solidFill>
              <a:srgbClr val="74748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550408" y="4160520"/>
            <a:ext cx="210312" cy="914400"/>
          </a:xfrm>
          <a:prstGeom prst="line">
            <a:avLst/>
          </a:prstGeom>
          <a:ln w="25400">
            <a:solidFill>
              <a:srgbClr val="74748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247888" y="1783080"/>
            <a:ext cx="237744" cy="1280160"/>
          </a:xfrm>
          <a:prstGeom prst="line">
            <a:avLst/>
          </a:prstGeom>
          <a:ln w="25400">
            <a:solidFill>
              <a:srgbClr val="74748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247888" y="4160520"/>
            <a:ext cx="237744" cy="914400"/>
          </a:xfrm>
          <a:prstGeom prst="line">
            <a:avLst/>
          </a:prstGeom>
          <a:ln w="25400">
            <a:solidFill>
              <a:srgbClr val="74748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698480" y="2167128"/>
            <a:ext cx="91440" cy="1261872"/>
          </a:xfrm>
          <a:prstGeom prst="line">
            <a:avLst/>
          </a:prstGeom>
          <a:ln w="24130">
            <a:solidFill>
              <a:srgbClr val="4A4A5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698480" y="3465576"/>
            <a:ext cx="91440" cy="146304"/>
          </a:xfrm>
          <a:prstGeom prst="line">
            <a:avLst/>
          </a:prstGeom>
          <a:ln w="24130">
            <a:solidFill>
              <a:srgbClr val="4A4A5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698480" y="3794760"/>
            <a:ext cx="91440" cy="932688"/>
          </a:xfrm>
          <a:prstGeom prst="line">
            <a:avLst/>
          </a:prstGeom>
          <a:ln w="24130">
            <a:solidFill>
              <a:srgbClr val="4A4A5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74320" y="5074920"/>
            <a:ext cx="4160520" cy="1417320"/>
          </a:xfrm>
          <a:prstGeom prst="roundRect">
            <a:avLst>
              <a:gd name="adj" fmla="val 4000"/>
            </a:avLst>
          </a:prstGeom>
          <a:solidFill>
            <a:srgbClr val="FBFBFC"/>
          </a:solidFill>
          <a:ln w="12700">
            <a:solidFill>
              <a:srgbClr val="5E5E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84048" y="5138928"/>
            <a:ext cx="39319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 u="sng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图例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57200" y="5669280"/>
            <a:ext cx="566928" cy="0"/>
          </a:xfrm>
          <a:prstGeom prst="line">
            <a:avLst/>
          </a:prstGeom>
          <a:ln w="57150">
            <a:solidFill>
              <a:srgbClr val="1E1E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15568" y="5532120"/>
            <a:ext cx="324612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粗实线：唯一权威判定（label / fake_prob）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57200" y="6016752"/>
            <a:ext cx="566928" cy="0"/>
          </a:xfrm>
          <a:prstGeom prst="line">
            <a:avLst/>
          </a:prstGeom>
          <a:ln w="25400">
            <a:solidFill>
              <a:srgbClr val="747482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115568" y="5879592"/>
            <a:ext cx="324612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虚线箭头：并行证据分支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4632" y="6291072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C7B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85800" y="6291072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F1C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86968" y="6291072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B6D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5568" y="6217920"/>
            <a:ext cx="324612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三色分区：三层输出合同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63440" y="6035040"/>
            <a:ext cx="7498079" cy="676656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 w="12700">
            <a:solidFill>
              <a:srgbClr val="5E5E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3000"/>
              </a:lnSpc>
            </a:pPr>
            <a:r>
              <a:rPr sz="130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四入口（Web UI / API / CLI / 批量）复用同一 ExplanationPipeline　｜　终端：Web 可视化展示 + 检测报告导出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1298448"/>
            <a:ext cx="2542032" cy="1874519"/>
          </a:xfrm>
          <a:prstGeom prst="roundRect">
            <a:avLst>
              <a:gd name="adj" fmla="val 11000"/>
            </a:avLst>
          </a:prstGeom>
          <a:solidFill>
            <a:srgbClr val="A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_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1426464"/>
            <a:ext cx="768096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0624" y="2194560"/>
            <a:ext cx="2432303" cy="941831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450" b="1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① 用户上传图片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18688" y="1298448"/>
            <a:ext cx="2542032" cy="1874519"/>
          </a:xfrm>
          <a:prstGeom prst="roundRect">
            <a:avLst>
              <a:gd name="adj" fmla="val 11000"/>
            </a:avLst>
          </a:prstGeom>
          <a:solidFill>
            <a:srgbClr val="ECD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656" y="1426464"/>
            <a:ext cx="768096" cy="7680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73552" y="2194560"/>
            <a:ext cx="2432303" cy="941831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4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② 输入校验</a:t>
            </a:r>
          </a:p>
          <a:p>
            <a:pPr algn="ctr">
              <a:lnSpc>
                <a:spcPct val="103000"/>
              </a:lnSpc>
            </a:pPr>
            <a:r>
              <a:rPr sz="14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格式 / 尺寸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71616" y="1298448"/>
            <a:ext cx="2788920" cy="1874519"/>
          </a:xfrm>
          <a:prstGeom prst="roundRect">
            <a:avLst>
              <a:gd name="adj" fmla="val 11000"/>
            </a:avLst>
          </a:prstGeom>
          <a:solidFill>
            <a:srgbClr val="C7B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_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027" y="1426464"/>
            <a:ext cx="768096" cy="7680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79" y="2194560"/>
            <a:ext cx="2679191" cy="941831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4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③ 统一分析接口</a:t>
            </a:r>
          </a:p>
          <a:p>
            <a:pPr algn="ctr">
              <a:lnSpc>
                <a:spcPct val="103000"/>
              </a:lnSpc>
            </a:pPr>
            <a:r>
              <a:rPr sz="14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POST /api/v1/analyze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1298448"/>
            <a:ext cx="2633472" cy="1874519"/>
          </a:xfrm>
          <a:prstGeom prst="roundRect">
            <a:avLst>
              <a:gd name="adj" fmla="val 11000"/>
            </a:avLst>
          </a:prstGeom>
          <a:solidFill>
            <a:srgbClr val="C7B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_g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2408" y="1426464"/>
            <a:ext cx="768096" cy="7680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44584" y="2194560"/>
            <a:ext cx="2523744" cy="941831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450" b="1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④ GPU 推理</a:t>
            </a:r>
          </a:p>
          <a:p>
            <a:pPr algn="ctr">
              <a:lnSpc>
                <a:spcPct val="103000"/>
              </a:lnSpc>
            </a:pPr>
            <a:r>
              <a:rPr sz="1450" b="1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ExplanationPipeline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07792" y="2235708"/>
            <a:ext cx="310896" cy="0"/>
          </a:xfrm>
          <a:prstGeom prst="line">
            <a:avLst/>
          </a:prstGeom>
          <a:ln w="38100">
            <a:solidFill>
              <a:srgbClr val="1E1E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60720" y="2235708"/>
            <a:ext cx="310896" cy="0"/>
          </a:xfrm>
          <a:prstGeom prst="line">
            <a:avLst/>
          </a:prstGeom>
          <a:ln w="38100">
            <a:solidFill>
              <a:srgbClr val="1E1E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60536" y="2235708"/>
            <a:ext cx="329184" cy="0"/>
          </a:xfrm>
          <a:prstGeom prst="line">
            <a:avLst/>
          </a:prstGeom>
          <a:ln w="38100">
            <a:solidFill>
              <a:srgbClr val="1E1E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506456" y="3172968"/>
            <a:ext cx="0" cy="621792"/>
          </a:xfrm>
          <a:prstGeom prst="line">
            <a:avLst/>
          </a:prstGeom>
          <a:ln w="38100">
            <a:solidFill>
              <a:srgbClr val="1E1E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89520" y="3794760"/>
            <a:ext cx="4233672" cy="2331720"/>
          </a:xfrm>
          <a:prstGeom prst="roundRect">
            <a:avLst>
              <a:gd name="adj" fmla="val 4500"/>
            </a:avLst>
          </a:prstGeom>
          <a:solidFill>
            <a:srgbClr val="DDEBD8"/>
          </a:solidFill>
          <a:ln w="17780">
            <a:solidFill>
              <a:srgbClr val="A0A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4384" y="3867912"/>
            <a:ext cx="4123944" cy="38404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600" b="1" u="sng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⑤ 证据渲染（分栏）</a:t>
            </a:r>
          </a:p>
        </p:txBody>
      </p:sp>
      <p:pic>
        <p:nvPicPr>
          <p:cNvPr id="20" name="Picture 19" descr="icon_pan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79" y="4224528"/>
            <a:ext cx="658368" cy="65836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772400" y="4892040"/>
            <a:ext cx="1243584" cy="1097280"/>
          </a:xfrm>
          <a:prstGeom prst="roundRect">
            <a:avLst>
              <a:gd name="adj" fmla="val 13000"/>
            </a:avLst>
          </a:prstGeom>
          <a:solidFill>
            <a:srgbClr val="B6D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全局</a:t>
            </a:r>
          </a:p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label</a:t>
            </a:r>
          </a:p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fake_prob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62288" y="4892040"/>
            <a:ext cx="1298448" cy="1097280"/>
          </a:xfrm>
          <a:prstGeom prst="roundRect">
            <a:avLst>
              <a:gd name="adj" fmla="val 13000"/>
            </a:avLst>
          </a:prstGeom>
          <a:solidFill>
            <a:srgbClr val="F1C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局部</a:t>
            </a:r>
          </a:p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tamper</a:t>
            </a:r>
          </a:p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bbox/热力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88752" y="4892040"/>
            <a:ext cx="1097280" cy="1097280"/>
          </a:xfrm>
          <a:prstGeom prst="roundRect">
            <a:avLst>
              <a:gd name="adj" fmla="val 13000"/>
            </a:avLst>
          </a:prstGeom>
          <a:solidFill>
            <a:srgbClr val="A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low/med</a:t>
            </a:r>
          </a:p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/high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9080" y="3931920"/>
            <a:ext cx="3063240" cy="1874519"/>
          </a:xfrm>
          <a:prstGeom prst="roundRect">
            <a:avLst>
              <a:gd name="adj" fmla="val 11000"/>
            </a:avLst>
          </a:prstGeom>
          <a:solidFill>
            <a:srgbClr val="ECD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_revie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6652" y="4059935"/>
            <a:ext cx="768096" cy="76809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123944" y="4828031"/>
            <a:ext cx="2953512" cy="941831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3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⑥ 人工复核</a:t>
            </a:r>
          </a:p>
          <a:p>
            <a:pPr algn="ctr">
              <a:lnSpc>
                <a:spcPct val="103000"/>
              </a:lnSpc>
            </a:pPr>
            <a:r>
              <a:rPr sz="135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证据冲突或退化→转人工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3931920"/>
            <a:ext cx="3017520" cy="1874519"/>
          </a:xfrm>
          <a:prstGeom prst="roundRect">
            <a:avLst>
              <a:gd name="adj" fmla="val 11000"/>
            </a:avLst>
          </a:prstGeom>
          <a:solidFill>
            <a:srgbClr val="D5D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con_repo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6192" y="4059935"/>
            <a:ext cx="768096" cy="7680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6344" y="4828031"/>
            <a:ext cx="2907791" cy="941831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400" b="1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⑦ 单图检测报告导出</a:t>
            </a:r>
          </a:p>
          <a:p>
            <a:pPr algn="ctr">
              <a:lnSpc>
                <a:spcPct val="103000"/>
              </a:lnSpc>
            </a:pPr>
            <a:r>
              <a:rPr sz="1400" b="1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（HTML）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132320" y="4864608"/>
            <a:ext cx="457200" cy="0"/>
          </a:xfrm>
          <a:prstGeom prst="line">
            <a:avLst/>
          </a:prstGeom>
          <a:ln w="38100">
            <a:solidFill>
              <a:srgbClr val="1E1E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3429000" y="4864608"/>
            <a:ext cx="640080" cy="0"/>
          </a:xfrm>
          <a:prstGeom prst="line">
            <a:avLst/>
          </a:prstGeom>
          <a:ln w="38100">
            <a:solidFill>
              <a:srgbClr val="1E1E1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11480" y="6144768"/>
            <a:ext cx="5806440" cy="566928"/>
          </a:xfrm>
          <a:prstGeom prst="roundRect">
            <a:avLst>
              <a:gd name="adj" fmla="val 10000"/>
            </a:avLst>
          </a:prstGeom>
          <a:solidFill>
            <a:srgbClr val="FBFBFC"/>
          </a:solidFill>
          <a:ln w="12700">
            <a:solidFill>
              <a:srgbClr val="5E5E5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3000"/>
              </a:lnSpc>
            </a:pPr>
            <a:r>
              <a:rPr sz="1300" b="0" u="none">
                <a:solidFill>
                  <a:srgbClr val="2E2E2E"/>
                </a:solidFill>
                <a:latin typeface="Microsoft YaHei"/>
                <a:ea typeface="Microsoft YaHei"/>
                <a:cs typeface="Microsoft YaHei"/>
              </a:rPr>
              <a:t>界面状态反馈：loading / empty / error 三态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6199632"/>
            <a:ext cx="53949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3000"/>
              </a:lnSpc>
            </a:pPr>
            <a:r>
              <a:rPr sz="1200" b="0" u="none">
                <a:solidFill>
                  <a:srgbClr val="5E5E5E"/>
                </a:solidFill>
                <a:latin typeface="Microsoft YaHei"/>
                <a:ea typeface="Microsoft YaHei"/>
                <a:cs typeface="Microsoft YaHei"/>
              </a:rPr>
              <a:t>实线箭头：主数据流（首行左→右，折返续接下一行）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1417320"/>
            <a:ext cx="3502152" cy="4160520"/>
          </a:xfrm>
          <a:prstGeom prst="roundRect">
            <a:avLst>
              <a:gd name="adj" fmla="val 3000"/>
            </a:avLst>
          </a:prstGeom>
          <a:solidFill>
            <a:srgbClr val="F5F5F8"/>
          </a:solidFill>
          <a:ln w="2032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tection_input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157983"/>
            <a:ext cx="2496312" cy="24963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508760"/>
            <a:ext cx="341071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700" b="1" u="none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a  输入图像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74920"/>
            <a:ext cx="3410712" cy="4114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5E5E5E"/>
                </a:solidFill>
                <a:latin typeface="Microsoft YaHei"/>
                <a:ea typeface="Microsoft YaHei"/>
                <a:cs typeface="Microsoft YaHei"/>
              </a:rPr>
              <a:t>固定测试样例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417320"/>
            <a:ext cx="3502152" cy="4160520"/>
          </a:xfrm>
          <a:prstGeom prst="roundRect">
            <a:avLst>
              <a:gd name="adj" fmla="val 3000"/>
            </a:avLst>
          </a:prstGeom>
          <a:solidFill>
            <a:srgbClr val="F5F5F8"/>
          </a:solidFill>
          <a:ln w="2032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tection_gradcam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157983"/>
            <a:ext cx="2496312" cy="24963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1508760"/>
            <a:ext cx="341071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700" b="1" u="none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b  Stage2 Grad-CAM 叠加图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5074920"/>
            <a:ext cx="3410712" cy="4114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5E5E5E"/>
                </a:solidFill>
                <a:latin typeface="Microsoft YaHei"/>
                <a:ea typeface="Microsoft YaHei"/>
                <a:cs typeface="Microsoft YaHei"/>
              </a:rPr>
              <a:t>实测热力响应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502152" cy="4160520"/>
          </a:xfrm>
          <a:prstGeom prst="roundRect">
            <a:avLst>
              <a:gd name="adj" fmla="val 3000"/>
            </a:avLst>
          </a:prstGeom>
          <a:solidFill>
            <a:srgbClr val="F5F5F8"/>
          </a:solidFill>
          <a:ln w="20320">
            <a:solidFill>
              <a:srgbClr val="5E5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etection_bbox_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2157983"/>
            <a:ext cx="2496312" cy="24963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0" y="1508760"/>
            <a:ext cx="3410712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700" b="1" u="none">
                <a:solidFill>
                  <a:srgbClr val="242424"/>
                </a:solidFill>
                <a:latin typeface="Microsoft YaHei"/>
                <a:ea typeface="Microsoft YaHei"/>
                <a:cs typeface="Microsoft YaHei"/>
              </a:rPr>
              <a:t>c  局部定位可疑区域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074920"/>
            <a:ext cx="3410712" cy="4114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 u="none">
                <a:solidFill>
                  <a:srgbClr val="5E5E5E"/>
                </a:solidFill>
                <a:latin typeface="Microsoft YaHei"/>
                <a:ea typeface="Microsoft YaHei"/>
                <a:cs typeface="Microsoft YaHei"/>
              </a:rPr>
              <a:t>实测定位结果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70448"/>
            <a:ext cx="11183112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3000"/>
              </a:lnSpc>
            </a:pPr>
            <a:r>
              <a:rPr sz="1300" b="0" u="none">
                <a:solidFill>
                  <a:srgbClr val="5E5E5E"/>
                </a:solidFill>
                <a:latin typeface="Microsoft YaHei"/>
                <a:ea typeface="Microsoft YaHei"/>
                <a:cs typeface="Microsoft YaHei"/>
              </a:rPr>
              <a:t>实测样例：正式权重、CUDA 推理；全局判断与局部证据分别保留。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