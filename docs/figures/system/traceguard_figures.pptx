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6032" y="2542032"/>
            <a:ext cx="1664208" cy="2212848"/>
          </a:xfrm>
          <a:prstGeom prst="roundRect">
            <a:avLst>
              <a:gd name="adj" fmla="val 4500"/>
            </a:avLst>
          </a:prstGeom>
          <a:solidFill>
            <a:srgbClr val="FCF6D8"/>
          </a:solidFill>
          <a:ln w="17780">
            <a:solidFill>
              <a:srgbClr val="A0A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0896" y="2615184"/>
            <a:ext cx="155448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3000"/>
              </a:lnSpc>
            </a:pPr>
            <a:r>
              <a:rPr sz="1700" b="1" u="sng">
                <a:solidFill>
                  <a:srgbClr val="242424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4" name="Rectangle 3"/>
          <p:cNvSpPr/>
          <p:nvPr/>
        </p:nvSpPr>
        <p:spPr>
          <a:xfrm>
            <a:off x="484632" y="3072384"/>
            <a:ext cx="1207008" cy="960120"/>
          </a:xfrm>
          <a:prstGeom prst="rect">
            <a:avLst/>
          </a:prstGeom>
          <a:solidFill>
            <a:srgbClr val="FFFFFF"/>
          </a:solidFill>
          <a:ln w="17780">
            <a:solidFill>
              <a:srgbClr val="5E5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9496" y="3127248"/>
            <a:ext cx="1097280" cy="528066"/>
          </a:xfrm>
          <a:prstGeom prst="rect">
            <a:avLst/>
          </a:prstGeom>
          <a:solidFill>
            <a:srgbClr val="DC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232976" y="3206800"/>
            <a:ext cx="217261" cy="217261"/>
          </a:xfrm>
          <a:prstGeom prst="ellipse">
            <a:avLst/>
          </a:prstGeom>
          <a:solidFill>
            <a:srgbClr val="F6C7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>
            <a:off x="629472" y="3360420"/>
            <a:ext cx="603504" cy="384048"/>
          </a:xfrm>
          <a:prstGeom prst="triangle">
            <a:avLst/>
          </a:prstGeom>
          <a:solidFill>
            <a:srgbClr val="7FB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>
            <a:off x="991575" y="3398824"/>
            <a:ext cx="531083" cy="345643"/>
          </a:xfrm>
          <a:prstGeom prst="triangle">
            <a:avLst/>
          </a:prstGeom>
          <a:solidFill>
            <a:srgbClr val="5F9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9496" y="3667658"/>
            <a:ext cx="1097280" cy="307238"/>
          </a:xfrm>
          <a:prstGeom prst="rect">
            <a:avLst/>
          </a:prstGeom>
          <a:solidFill>
            <a:srgbClr val="E9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4096512"/>
            <a:ext cx="1627632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3000"/>
              </a:lnSpc>
            </a:pPr>
            <a:r>
              <a:rPr sz="1450" b="1" u="none">
                <a:solidFill>
                  <a:srgbClr val="2E2E2E"/>
                </a:solidFill>
                <a:latin typeface="Microsoft YaHei"/>
                <a:ea typeface="Microsoft YaHei"/>
                <a:cs typeface="Microsoft YaHei"/>
              </a:rPr>
              <a:t>单张 RGB 图像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40280" y="1627632"/>
            <a:ext cx="3310128" cy="3840480"/>
          </a:xfrm>
          <a:prstGeom prst="roundRect">
            <a:avLst>
              <a:gd name="adj" fmla="val 4500"/>
            </a:avLst>
          </a:prstGeom>
          <a:solidFill>
            <a:srgbClr val="E7E0F0"/>
          </a:solidFill>
          <a:ln w="17780">
            <a:solidFill>
              <a:srgbClr val="A0A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5144" y="1700784"/>
            <a:ext cx="32004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3000"/>
              </a:lnSpc>
            </a:pPr>
            <a:r>
              <a:rPr sz="1700" b="1" u="sng">
                <a:solidFill>
                  <a:srgbClr val="242424"/>
                </a:solidFill>
                <a:latin typeface="Microsoft YaHei"/>
                <a:ea typeface="Microsoft YaHei"/>
                <a:cs typeface="Microsoft YaHei"/>
              </a:rPr>
              <a:t>跨域 AIGC 检测模块（核心）</a:t>
            </a:r>
          </a:p>
        </p:txBody>
      </p:sp>
      <p:pic>
        <p:nvPicPr>
          <p:cNvPr id="13" name="Picture 12" descr="backb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3116" y="2148840"/>
            <a:ext cx="3082742" cy="1417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59152" y="3529584"/>
            <a:ext cx="3090672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3000"/>
              </a:lnSpc>
            </a:pPr>
            <a:r>
              <a:rPr sz="1250" b="0" u="none">
                <a:solidFill>
                  <a:srgbClr val="5E5E5E"/>
                </a:solidFill>
                <a:latin typeface="Microsoft YaHei"/>
                <a:ea typeface="Microsoft YaHei"/>
                <a:cs typeface="Microsoft YaHei"/>
              </a:rPr>
              <a:t>MambaOut-Small 去全局池化骨干（2304→256）</a:t>
            </a:r>
          </a:p>
        </p:txBody>
      </p:sp>
      <p:pic>
        <p:nvPicPr>
          <p:cNvPr id="15" name="Picture 14" descr="mkmm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1929" y="3913632"/>
            <a:ext cx="1450676" cy="11704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224528" y="4041648"/>
            <a:ext cx="1298448" cy="9601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3000"/>
              </a:lnSpc>
            </a:pPr>
            <a:r>
              <a:rPr sz="1400" b="1" u="none">
                <a:solidFill>
                  <a:srgbClr val="2E2E2E"/>
                </a:solidFill>
                <a:latin typeface="Microsoft YaHei"/>
                <a:ea typeface="Microsoft YaHei"/>
                <a:cs typeface="Microsoft YaHei"/>
              </a:rPr>
              <a:t>MK-MMD</a:t>
            </a:r>
          </a:p>
          <a:p>
            <a:pPr algn="l">
              <a:lnSpc>
                <a:spcPct val="103000"/>
              </a:lnSpc>
            </a:pPr>
            <a:r>
              <a:rPr sz="1400" b="1" u="none">
                <a:solidFill>
                  <a:srgbClr val="2E2E2E"/>
                </a:solidFill>
                <a:latin typeface="Microsoft YaHei"/>
                <a:ea typeface="Microsoft YaHei"/>
                <a:cs typeface="Microsoft YaHei"/>
              </a:rPr>
              <a:t>无监督</a:t>
            </a:r>
          </a:p>
          <a:p>
            <a:pPr algn="l">
              <a:lnSpc>
                <a:spcPct val="103000"/>
              </a:lnSpc>
            </a:pPr>
            <a:r>
              <a:rPr sz="1400" b="1" u="none">
                <a:solidFill>
                  <a:srgbClr val="2E2E2E"/>
                </a:solidFill>
                <a:latin typeface="Microsoft YaHei"/>
                <a:ea typeface="Microsoft YaHei"/>
                <a:cs typeface="Microsoft YaHei"/>
              </a:rPr>
              <a:t>域自适应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60720" y="786384"/>
            <a:ext cx="2487168" cy="1993392"/>
          </a:xfrm>
          <a:prstGeom prst="roundRect">
            <a:avLst>
              <a:gd name="adj" fmla="val 4500"/>
            </a:avLst>
          </a:prstGeom>
          <a:solidFill>
            <a:srgbClr val="FBE7D3"/>
          </a:solidFill>
          <a:ln w="17780">
            <a:solidFill>
              <a:srgbClr val="A0A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15583" y="859536"/>
            <a:ext cx="23774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3000"/>
              </a:lnSpc>
            </a:pPr>
            <a:r>
              <a:rPr sz="1600" b="1" u="sng">
                <a:solidFill>
                  <a:srgbClr val="242424"/>
                </a:solidFill>
                <a:latin typeface="Microsoft YaHei"/>
                <a:ea typeface="Microsoft YaHei"/>
                <a:cs typeface="Microsoft YaHei"/>
              </a:rPr>
              <a:t>可解释模块</a:t>
            </a:r>
          </a:p>
        </p:txBody>
      </p:sp>
      <p:pic>
        <p:nvPicPr>
          <p:cNvPr id="19" name="Picture 18" descr="gradc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5312" y="1307592"/>
            <a:ext cx="1170432" cy="11704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178040" y="1298448"/>
            <a:ext cx="1005840" cy="11887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3000"/>
              </a:lnSpc>
            </a:pPr>
            <a:r>
              <a:rPr sz="1350" b="0" u="none">
                <a:solidFill>
                  <a:srgbClr val="2E2E2E"/>
                </a:solidFill>
                <a:latin typeface="Microsoft YaHei"/>
                <a:ea typeface="Microsoft YaHei"/>
                <a:cs typeface="Microsoft YaHei"/>
              </a:rPr>
              <a:t>Stage2</a:t>
            </a:r>
          </a:p>
          <a:p>
            <a:pPr algn="l">
              <a:lnSpc>
                <a:spcPct val="103000"/>
              </a:lnSpc>
            </a:pPr>
            <a:r>
              <a:rPr sz="1350" b="0" u="none">
                <a:solidFill>
                  <a:srgbClr val="2E2E2E"/>
                </a:solidFill>
                <a:latin typeface="Microsoft YaHei"/>
                <a:ea typeface="Microsoft YaHei"/>
                <a:cs typeface="Microsoft YaHei"/>
              </a:rPr>
              <a:t>14×14</a:t>
            </a:r>
          </a:p>
          <a:p>
            <a:pPr algn="l">
              <a:lnSpc>
                <a:spcPct val="103000"/>
              </a:lnSpc>
            </a:pPr>
            <a:r>
              <a:rPr sz="1350" b="0" u="none">
                <a:solidFill>
                  <a:srgbClr val="2E2E2E"/>
                </a:solidFill>
                <a:latin typeface="Microsoft YaHei"/>
                <a:ea typeface="Microsoft YaHei"/>
                <a:cs typeface="Microsoft YaHei"/>
              </a:rPr>
              <a:t>Grad-CAM</a:t>
            </a:r>
          </a:p>
          <a:p>
            <a:pPr algn="l">
              <a:lnSpc>
                <a:spcPct val="103000"/>
              </a:lnSpc>
            </a:pPr>
            <a:r>
              <a:rPr sz="1350" b="0" u="none">
                <a:solidFill>
                  <a:srgbClr val="2E2E2E"/>
                </a:solidFill>
                <a:latin typeface="Microsoft YaHei"/>
                <a:ea typeface="Microsoft YaHei"/>
                <a:cs typeface="Microsoft YaHei"/>
              </a:rPr>
              <a:t>热力图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4443984"/>
            <a:ext cx="2487168" cy="1847088"/>
          </a:xfrm>
          <a:prstGeom prst="roundRect">
            <a:avLst>
              <a:gd name="adj" fmla="val 4500"/>
            </a:avLst>
          </a:prstGeom>
          <a:solidFill>
            <a:srgbClr val="DAECEC"/>
          </a:solidFill>
          <a:ln w="17780">
            <a:solidFill>
              <a:srgbClr val="A0A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15583" y="4517136"/>
            <a:ext cx="23774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3000"/>
              </a:lnSpc>
            </a:pPr>
            <a:r>
              <a:rPr sz="1600" b="1" u="sng">
                <a:solidFill>
                  <a:srgbClr val="242424"/>
                </a:solidFill>
                <a:latin typeface="Microsoft YaHei"/>
                <a:ea typeface="Microsoft YaHei"/>
                <a:cs typeface="Microsoft YaHei"/>
              </a:rPr>
              <a:t>篡改定位模块</a:t>
            </a:r>
          </a:p>
        </p:txBody>
      </p:sp>
      <p:pic>
        <p:nvPicPr>
          <p:cNvPr id="23" name="Picture 22" descr="bbo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5312" y="4956048"/>
            <a:ext cx="1170432" cy="117043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178040" y="4974336"/>
            <a:ext cx="1005840" cy="11430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3000"/>
              </a:lnSpc>
            </a:pPr>
            <a:r>
              <a:rPr sz="1350" b="0" u="none">
                <a:solidFill>
                  <a:srgbClr val="2E2E2E"/>
                </a:solidFill>
                <a:latin typeface="Microsoft YaHei"/>
                <a:ea typeface="Microsoft YaHei"/>
                <a:cs typeface="Microsoft YaHei"/>
              </a:rPr>
              <a:t>多尺度滑窗</a:t>
            </a:r>
          </a:p>
          <a:p>
            <a:pPr algn="l">
              <a:lnSpc>
                <a:spcPct val="103000"/>
              </a:lnSpc>
            </a:pPr>
            <a:r>
              <a:rPr sz="1350" b="0" u="none">
                <a:solidFill>
                  <a:srgbClr val="2E2E2E"/>
                </a:solidFill>
                <a:latin typeface="Microsoft YaHei"/>
                <a:ea typeface="Microsoft YaHei"/>
                <a:cs typeface="Microsoft YaHei"/>
              </a:rPr>
              <a:t>+特征统计</a:t>
            </a:r>
          </a:p>
          <a:p>
            <a:pPr algn="l">
              <a:lnSpc>
                <a:spcPct val="103000"/>
              </a:lnSpc>
            </a:pPr>
            <a:r>
              <a:rPr sz="1350" b="0" u="none">
                <a:solidFill>
                  <a:srgbClr val="2E2E2E"/>
                </a:solidFill>
                <a:latin typeface="Microsoft YaHei"/>
                <a:ea typeface="Microsoft YaHei"/>
                <a:cs typeface="Microsoft YaHei"/>
              </a:rPr>
              <a:t>四象限</a:t>
            </a:r>
          </a:p>
          <a:p>
            <a:pPr algn="l">
              <a:lnSpc>
                <a:spcPct val="103000"/>
              </a:lnSpc>
            </a:pPr>
            <a:r>
              <a:rPr sz="1350" b="0" u="none">
                <a:solidFill>
                  <a:srgbClr val="2E2E2E"/>
                </a:solidFill>
                <a:latin typeface="Microsoft YaHei"/>
                <a:ea typeface="Microsoft YaHei"/>
                <a:cs typeface="Microsoft YaHei"/>
              </a:rPr>
              <a:t>分类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85632" y="2103120"/>
            <a:ext cx="2212848" cy="3017520"/>
          </a:xfrm>
          <a:prstGeom prst="roundRect">
            <a:avLst>
              <a:gd name="adj" fmla="val 4500"/>
            </a:avLst>
          </a:prstGeom>
          <a:solidFill>
            <a:srgbClr val="DDEBD8"/>
          </a:solidFill>
          <a:ln w="17780">
            <a:solidFill>
              <a:srgbClr val="A0A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40496" y="2176272"/>
            <a:ext cx="210312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3000"/>
              </a:lnSpc>
            </a:pPr>
            <a:r>
              <a:rPr sz="1600" b="1" u="sng">
                <a:solidFill>
                  <a:srgbClr val="242424"/>
                </a:solidFill>
                <a:latin typeface="Microsoft YaHei"/>
                <a:ea typeface="Microsoft YaHei"/>
                <a:cs typeface="Microsoft YaHei"/>
              </a:rPr>
              <a:t>多证据风险融合</a:t>
            </a:r>
          </a:p>
        </p:txBody>
      </p:sp>
      <p:pic>
        <p:nvPicPr>
          <p:cNvPr id="27" name="Picture 26" descr="ba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1120" y="2615184"/>
            <a:ext cx="1421871" cy="107899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577072" y="3639312"/>
            <a:ext cx="2048256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3000"/>
              </a:lnSpc>
            </a:pPr>
            <a:r>
              <a:rPr sz="1300" b="1" u="none">
                <a:solidFill>
                  <a:srgbClr val="2E2E2E"/>
                </a:solidFill>
                <a:latin typeface="Microsoft YaHei"/>
                <a:ea typeface="Microsoft YaHei"/>
                <a:cs typeface="Microsoft YaHei"/>
              </a:rPr>
              <a:t>五维加权 → risk_score</a:t>
            </a:r>
          </a:p>
        </p:txBody>
      </p:sp>
      <p:pic>
        <p:nvPicPr>
          <p:cNvPr id="29" name="Picture 28" descr="gau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89374" y="3986784"/>
            <a:ext cx="1423650" cy="8412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577072" y="4791456"/>
            <a:ext cx="2048256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3000"/>
              </a:lnSpc>
            </a:pPr>
            <a:r>
              <a:rPr sz="1300" b="0" u="none">
                <a:solidFill>
                  <a:srgbClr val="2E2E2E"/>
                </a:solidFill>
                <a:latin typeface="Microsoft YaHei"/>
                <a:ea typeface="Microsoft YaHei"/>
                <a:cs typeface="Microsoft YaHei"/>
              </a:rPr>
              <a:t>risk_level（低 / 中 / 高）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71632" y="1170432"/>
            <a:ext cx="137160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3000"/>
              </a:lnSpc>
            </a:pPr>
            <a:r>
              <a:rPr sz="1450" b="1" u="sng">
                <a:solidFill>
                  <a:srgbClr val="242424"/>
                </a:solidFill>
                <a:latin typeface="Microsoft YaHei"/>
                <a:ea typeface="Microsoft YaHei"/>
                <a:cs typeface="Microsoft YaHei"/>
              </a:rPr>
              <a:t>三层输出合同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789920" y="1572768"/>
            <a:ext cx="1371600" cy="1188720"/>
          </a:xfrm>
          <a:prstGeom prst="roundRect">
            <a:avLst>
              <a:gd name="adj" fmla="val 13000"/>
            </a:avLst>
          </a:prstGeom>
          <a:solidFill>
            <a:srgbClr val="E7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lnSpc>
                <a:spcPct val="103000"/>
              </a:lnSpc>
            </a:pPr>
            <a:r>
              <a:rPr sz="1250" b="1" u="none">
                <a:solidFill>
                  <a:srgbClr val="242424"/>
                </a:solidFill>
                <a:latin typeface="Microsoft YaHei"/>
                <a:ea typeface="Microsoft YaHei"/>
                <a:cs typeface="Microsoft YaHei"/>
              </a:rPr>
              <a:t>全局判断</a:t>
            </a:r>
          </a:p>
          <a:p>
            <a:pPr algn="ctr">
              <a:lnSpc>
                <a:spcPct val="103000"/>
              </a:lnSpc>
            </a:pPr>
            <a:r>
              <a:rPr sz="1250" b="0" u="none">
                <a:solidFill>
                  <a:srgbClr val="2E2E2E"/>
                </a:solidFill>
                <a:latin typeface="Microsoft YaHei"/>
                <a:ea typeface="Microsoft YaHei"/>
                <a:cs typeface="Microsoft YaHei"/>
              </a:rPr>
              <a:t>label</a:t>
            </a:r>
          </a:p>
          <a:p>
            <a:pPr algn="ctr">
              <a:lnSpc>
                <a:spcPct val="103000"/>
              </a:lnSpc>
            </a:pPr>
            <a:r>
              <a:rPr sz="1250" b="0" u="none">
                <a:solidFill>
                  <a:srgbClr val="2E2E2E"/>
                </a:solidFill>
                <a:latin typeface="Microsoft YaHei"/>
                <a:ea typeface="Microsoft YaHei"/>
                <a:cs typeface="Microsoft YaHei"/>
              </a:rPr>
              <a:t>fake_prob</a:t>
            </a:r>
          </a:p>
          <a:p>
            <a:pPr algn="ctr">
              <a:lnSpc>
                <a:spcPct val="103000"/>
              </a:lnSpc>
            </a:pPr>
            <a:r>
              <a:rPr sz="1250" b="0" u="none">
                <a:solidFill>
                  <a:srgbClr val="2E8B3D"/>
                </a:solidFill>
                <a:latin typeface="Microsoft YaHei"/>
                <a:ea typeface="Microsoft YaHei"/>
                <a:cs typeface="Microsoft YaHei"/>
              </a:rPr>
              <a:t>Real </a:t>
            </a:r>
            <a:r>
              <a:rPr sz="1250" b="0" u="none">
                <a:solidFill>
                  <a:srgbClr val="2E8B3D"/>
                </a:solidFill>
                <a:latin typeface="Microsoft YaHei"/>
                <a:ea typeface="Microsoft YaHei"/>
                <a:cs typeface="Microsoft YaHei"/>
              </a:rPr>
              <a:t>✓ </a:t>
            </a:r>
            <a:r>
              <a:rPr sz="1250" b="0" u="none">
                <a:solidFill>
                  <a:srgbClr val="C0392B"/>
                </a:solidFill>
                <a:latin typeface="Microsoft YaHei"/>
                <a:ea typeface="Microsoft YaHei"/>
                <a:cs typeface="Microsoft YaHei"/>
              </a:rPr>
              <a:t>Fake </a:t>
            </a:r>
            <a:r>
              <a:rPr sz="1250" b="0" u="none">
                <a:solidFill>
                  <a:srgbClr val="C0392B"/>
                </a:solidFill>
                <a:latin typeface="Microsoft YaHei"/>
                <a:ea typeface="Microsoft YaHei"/>
                <a:cs typeface="Microsoft YaHei"/>
              </a:rPr>
              <a:t>✗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789920" y="2907792"/>
            <a:ext cx="1371600" cy="1115568"/>
          </a:xfrm>
          <a:prstGeom prst="roundRect">
            <a:avLst>
              <a:gd name="adj" fmla="val 13000"/>
            </a:avLst>
          </a:prstGeom>
          <a:solidFill>
            <a:srgbClr val="FBE7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lnSpc>
                <a:spcPct val="103000"/>
              </a:lnSpc>
            </a:pPr>
            <a:r>
              <a:rPr sz="1250" b="1" u="none">
                <a:solidFill>
                  <a:srgbClr val="242424"/>
                </a:solidFill>
                <a:latin typeface="Microsoft YaHei"/>
                <a:ea typeface="Microsoft YaHei"/>
                <a:cs typeface="Microsoft YaHei"/>
              </a:rPr>
              <a:t>局部证据</a:t>
            </a:r>
          </a:p>
          <a:p>
            <a:pPr algn="ctr">
              <a:lnSpc>
                <a:spcPct val="103000"/>
              </a:lnSpc>
            </a:pPr>
            <a:r>
              <a:rPr sz="1250" b="0" u="none">
                <a:solidFill>
                  <a:srgbClr val="2E2E2E"/>
                </a:solidFill>
                <a:latin typeface="Microsoft YaHei"/>
                <a:ea typeface="Microsoft YaHei"/>
                <a:cs typeface="Microsoft YaHei"/>
              </a:rPr>
              <a:t>heatmap</a:t>
            </a:r>
          </a:p>
          <a:p>
            <a:pPr algn="ctr">
              <a:lnSpc>
                <a:spcPct val="103000"/>
              </a:lnSpc>
            </a:pPr>
            <a:r>
              <a:rPr sz="1250" b="0" u="none">
                <a:solidFill>
                  <a:srgbClr val="2E2E2E"/>
                </a:solidFill>
                <a:latin typeface="Microsoft YaHei"/>
                <a:ea typeface="Microsoft YaHei"/>
                <a:cs typeface="Microsoft YaHei"/>
              </a:rPr>
              <a:t>mask / bbox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789920" y="4169663"/>
            <a:ext cx="1371600" cy="1115568"/>
          </a:xfrm>
          <a:prstGeom prst="roundRect">
            <a:avLst>
              <a:gd name="adj" fmla="val 13000"/>
            </a:avLst>
          </a:prstGeom>
          <a:solidFill>
            <a:srgbClr val="DDE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lnSpc>
                <a:spcPct val="103000"/>
              </a:lnSpc>
            </a:pPr>
            <a:r>
              <a:rPr sz="1250" b="1" u="none">
                <a:solidFill>
                  <a:srgbClr val="242424"/>
                </a:solidFill>
                <a:latin typeface="Microsoft YaHei"/>
                <a:ea typeface="Microsoft YaHei"/>
                <a:cs typeface="Microsoft YaHei"/>
              </a:rPr>
              <a:t>融合结论</a:t>
            </a:r>
          </a:p>
          <a:p>
            <a:pPr algn="ctr">
              <a:lnSpc>
                <a:spcPct val="103000"/>
              </a:lnSpc>
            </a:pPr>
            <a:r>
              <a:rPr sz="1250" b="0" u="none">
                <a:solidFill>
                  <a:srgbClr val="2E2E2E"/>
                </a:solidFill>
                <a:latin typeface="Microsoft YaHei"/>
                <a:ea typeface="Microsoft YaHei"/>
                <a:cs typeface="Microsoft YaHei"/>
              </a:rPr>
              <a:t>risk_score</a:t>
            </a:r>
          </a:p>
          <a:p>
            <a:pPr algn="ctr">
              <a:lnSpc>
                <a:spcPct val="103000"/>
              </a:lnSpc>
            </a:pPr>
            <a:r>
              <a:rPr sz="1250" b="0" u="none">
                <a:solidFill>
                  <a:srgbClr val="2E2E2E"/>
                </a:solidFill>
                <a:latin typeface="Microsoft YaHei"/>
                <a:ea typeface="Microsoft YaHei"/>
                <a:cs typeface="Microsoft YaHei"/>
              </a:rPr>
              <a:t>risk_level / 报告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920240" y="3611880"/>
            <a:ext cx="320040" cy="0"/>
          </a:xfrm>
          <a:prstGeom prst="line">
            <a:avLst/>
          </a:prstGeom>
          <a:ln w="31750">
            <a:solidFill>
              <a:srgbClr val="4A4A5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550408" y="3611880"/>
            <a:ext cx="2935224" cy="0"/>
          </a:xfrm>
          <a:prstGeom prst="line">
            <a:avLst/>
          </a:prstGeom>
          <a:ln w="57150">
            <a:solidFill>
              <a:srgbClr val="1E1E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760720" y="3209544"/>
            <a:ext cx="2487168" cy="310896"/>
          </a:xfrm>
          <a:prstGeom prst="rect">
            <a:avLst/>
          </a:prstGeom>
          <a:noFill/>
        </p:spPr>
        <p:txBody>
          <a:bodyPr wrap="square" anchor="b" lIns="38100" rIns="38100" tIns="25400" bIns="25400">
            <a:spAutoFit/>
          </a:bodyPr>
          <a:lstStyle/>
          <a:p>
            <a:pPr algn="ctr">
              <a:lnSpc>
                <a:spcPct val="103000"/>
              </a:lnSpc>
            </a:pPr>
            <a:r>
              <a:rPr sz="1350" b="1" u="none">
                <a:solidFill>
                  <a:srgbClr val="1E1E1E"/>
                </a:solidFill>
                <a:latin typeface="Microsoft YaHei"/>
                <a:ea typeface="Microsoft YaHei"/>
                <a:cs typeface="Microsoft YaHei"/>
              </a:rPr>
              <a:t>唯一权威判定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5550408" y="1783080"/>
            <a:ext cx="210312" cy="1280160"/>
          </a:xfrm>
          <a:prstGeom prst="line">
            <a:avLst/>
          </a:prstGeom>
          <a:ln w="25400">
            <a:solidFill>
              <a:srgbClr val="74748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550408" y="4160520"/>
            <a:ext cx="210312" cy="914400"/>
          </a:xfrm>
          <a:prstGeom prst="line">
            <a:avLst/>
          </a:prstGeom>
          <a:ln w="25400">
            <a:solidFill>
              <a:srgbClr val="74748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247888" y="1783080"/>
            <a:ext cx="237744" cy="1280160"/>
          </a:xfrm>
          <a:prstGeom prst="line">
            <a:avLst/>
          </a:prstGeom>
          <a:ln w="25400">
            <a:solidFill>
              <a:srgbClr val="74748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8247888" y="4160520"/>
            <a:ext cx="237744" cy="914400"/>
          </a:xfrm>
          <a:prstGeom prst="line">
            <a:avLst/>
          </a:prstGeom>
          <a:ln w="25400">
            <a:solidFill>
              <a:srgbClr val="74748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0698480" y="2167128"/>
            <a:ext cx="91440" cy="1261872"/>
          </a:xfrm>
          <a:prstGeom prst="line">
            <a:avLst/>
          </a:prstGeom>
          <a:ln w="24130">
            <a:solidFill>
              <a:srgbClr val="4A4A5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0698480" y="3465576"/>
            <a:ext cx="91440" cy="146304"/>
          </a:xfrm>
          <a:prstGeom prst="line">
            <a:avLst/>
          </a:prstGeom>
          <a:ln w="24130">
            <a:solidFill>
              <a:srgbClr val="4A4A5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698480" y="3794760"/>
            <a:ext cx="91440" cy="932688"/>
          </a:xfrm>
          <a:prstGeom prst="line">
            <a:avLst/>
          </a:prstGeom>
          <a:ln w="24130">
            <a:solidFill>
              <a:srgbClr val="4A4A5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274320" y="5074920"/>
            <a:ext cx="4160520" cy="1417320"/>
          </a:xfrm>
          <a:prstGeom prst="roundRect">
            <a:avLst>
              <a:gd name="adj" fmla="val 4000"/>
            </a:avLst>
          </a:prstGeom>
          <a:solidFill>
            <a:srgbClr val="FBFBFC"/>
          </a:solidFill>
          <a:ln w="12700">
            <a:solidFill>
              <a:srgbClr val="5E5E5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84048" y="5138928"/>
            <a:ext cx="39319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3000"/>
              </a:lnSpc>
            </a:pPr>
            <a:r>
              <a:rPr sz="1300" b="1" u="sng">
                <a:solidFill>
                  <a:srgbClr val="242424"/>
                </a:solidFill>
                <a:latin typeface="Microsoft YaHei"/>
                <a:ea typeface="Microsoft YaHei"/>
                <a:cs typeface="Microsoft YaHei"/>
              </a:rPr>
              <a:t>图例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57200" y="5669280"/>
            <a:ext cx="566928" cy="0"/>
          </a:xfrm>
          <a:prstGeom prst="line">
            <a:avLst/>
          </a:prstGeom>
          <a:ln w="57150">
            <a:solidFill>
              <a:srgbClr val="1E1E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1115568" y="5532120"/>
            <a:ext cx="324612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3000"/>
              </a:lnSpc>
            </a:pPr>
            <a:r>
              <a:rPr sz="1200" b="0" u="none">
                <a:solidFill>
                  <a:srgbClr val="2E2E2E"/>
                </a:solidFill>
                <a:latin typeface="Microsoft YaHei"/>
                <a:ea typeface="Microsoft YaHei"/>
                <a:cs typeface="Microsoft YaHei"/>
              </a:rPr>
              <a:t>粗实线：唯一权威判定（label / fake_prob）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457200" y="6016752"/>
            <a:ext cx="566928" cy="0"/>
          </a:xfrm>
          <a:prstGeom prst="line">
            <a:avLst/>
          </a:prstGeom>
          <a:ln w="25400">
            <a:solidFill>
              <a:srgbClr val="74748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1115568" y="5879592"/>
            <a:ext cx="324612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3000"/>
              </a:lnSpc>
            </a:pPr>
            <a:r>
              <a:rPr sz="1200" b="0" u="none">
                <a:solidFill>
                  <a:srgbClr val="2E2E2E"/>
                </a:solidFill>
                <a:latin typeface="Microsoft YaHei"/>
                <a:ea typeface="Microsoft YaHei"/>
                <a:cs typeface="Microsoft YaHei"/>
              </a:rPr>
              <a:t>虚线箭头：并行证据分支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84632" y="6291072"/>
            <a:ext cx="164592" cy="164592"/>
          </a:xfrm>
          <a:prstGeom prst="roundRect">
            <a:avLst>
              <a:gd name="adj" fmla="val 20000"/>
            </a:avLst>
          </a:prstGeom>
          <a:solidFill>
            <a:srgbClr val="C7B8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85800" y="6291072"/>
            <a:ext cx="164592" cy="164592"/>
          </a:xfrm>
          <a:prstGeom prst="roundRect">
            <a:avLst>
              <a:gd name="adj" fmla="val 20000"/>
            </a:avLst>
          </a:prstGeom>
          <a:solidFill>
            <a:srgbClr val="F1C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886968" y="6291072"/>
            <a:ext cx="164592" cy="164592"/>
          </a:xfrm>
          <a:prstGeom prst="roundRect">
            <a:avLst>
              <a:gd name="adj" fmla="val 20000"/>
            </a:avLst>
          </a:prstGeom>
          <a:solidFill>
            <a:srgbClr val="B6D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15568" y="6217920"/>
            <a:ext cx="324612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3000"/>
              </a:lnSpc>
            </a:pPr>
            <a:r>
              <a:rPr sz="1200" b="0" u="none">
                <a:solidFill>
                  <a:srgbClr val="2E2E2E"/>
                </a:solidFill>
                <a:latin typeface="Microsoft YaHei"/>
                <a:ea typeface="Microsoft YaHei"/>
                <a:cs typeface="Microsoft YaHei"/>
              </a:rPr>
              <a:t>三色分区：三层输出合同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663440" y="6035040"/>
            <a:ext cx="7498079" cy="676656"/>
          </a:xfrm>
          <a:prstGeom prst="roundRect">
            <a:avLst>
              <a:gd name="adj" fmla="val 8000"/>
            </a:avLst>
          </a:prstGeom>
          <a:solidFill>
            <a:srgbClr val="FBFBFC"/>
          </a:solidFill>
          <a:ln w="12700">
            <a:solidFill>
              <a:srgbClr val="5E5E5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lnSpc>
                <a:spcPct val="103000"/>
              </a:lnSpc>
            </a:pPr>
            <a:r>
              <a:rPr sz="1300" b="0" u="none">
                <a:solidFill>
                  <a:srgbClr val="2E2E2E"/>
                </a:solidFill>
                <a:latin typeface="Microsoft YaHei"/>
                <a:ea typeface="Microsoft YaHei"/>
                <a:cs typeface="Microsoft YaHei"/>
              </a:rPr>
              <a:t>四入口（Web UI / API / CLI / 批量）复用同一 ExplanationPipeline　｜　终端：Web 可视化展示 + 检测报告导出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1298448"/>
            <a:ext cx="2542032" cy="1874519"/>
          </a:xfrm>
          <a:prstGeom prst="roundRect">
            <a:avLst>
              <a:gd name="adj" fmla="val 11000"/>
            </a:avLst>
          </a:prstGeom>
          <a:solidFill>
            <a:srgbClr val="A9D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n_up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728" y="1426464"/>
            <a:ext cx="768096" cy="7680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20624" y="2194560"/>
            <a:ext cx="2432303" cy="941831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3000"/>
              </a:lnSpc>
            </a:pPr>
            <a:r>
              <a:rPr sz="1450" b="1" u="none">
                <a:solidFill>
                  <a:srgbClr val="2E2E2E"/>
                </a:solidFill>
                <a:latin typeface="Microsoft YaHei"/>
                <a:ea typeface="Microsoft YaHei"/>
                <a:cs typeface="Microsoft YaHei"/>
              </a:rPr>
              <a:t>① 用户上传图片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18688" y="1298448"/>
            <a:ext cx="2542032" cy="1874519"/>
          </a:xfrm>
          <a:prstGeom prst="roundRect">
            <a:avLst>
              <a:gd name="adj" fmla="val 11000"/>
            </a:avLst>
          </a:prstGeom>
          <a:solidFill>
            <a:srgbClr val="ECD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con_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5656" y="1426464"/>
            <a:ext cx="768096" cy="7680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273552" y="2194560"/>
            <a:ext cx="2432303" cy="941831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3000"/>
              </a:lnSpc>
            </a:pPr>
            <a:r>
              <a:rPr sz="1450" b="0" u="none">
                <a:solidFill>
                  <a:srgbClr val="2E2E2E"/>
                </a:solidFill>
                <a:latin typeface="Microsoft YaHei"/>
                <a:ea typeface="Microsoft YaHei"/>
                <a:cs typeface="Microsoft YaHei"/>
              </a:rPr>
              <a:t>② 输入校验</a:t>
            </a:r>
          </a:p>
          <a:p>
            <a:pPr algn="ctr">
              <a:lnSpc>
                <a:spcPct val="103000"/>
              </a:lnSpc>
            </a:pPr>
            <a:r>
              <a:rPr sz="1450" b="0" u="none">
                <a:solidFill>
                  <a:srgbClr val="2E2E2E"/>
                </a:solidFill>
                <a:latin typeface="Microsoft YaHei"/>
                <a:ea typeface="Microsoft YaHei"/>
                <a:cs typeface="Microsoft YaHei"/>
              </a:rPr>
              <a:t>格式 / 尺寸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71616" y="1298448"/>
            <a:ext cx="2788920" cy="1874519"/>
          </a:xfrm>
          <a:prstGeom prst="roundRect">
            <a:avLst>
              <a:gd name="adj" fmla="val 11000"/>
            </a:avLst>
          </a:prstGeom>
          <a:solidFill>
            <a:srgbClr val="C7B8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_ap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2027" y="1426464"/>
            <a:ext cx="768096" cy="7680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26479" y="2194560"/>
            <a:ext cx="2679191" cy="941831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3000"/>
              </a:lnSpc>
            </a:pPr>
            <a:r>
              <a:rPr sz="1450" b="0" u="none">
                <a:solidFill>
                  <a:srgbClr val="2E2E2E"/>
                </a:solidFill>
                <a:latin typeface="Microsoft YaHei"/>
                <a:ea typeface="Microsoft YaHei"/>
                <a:cs typeface="Microsoft YaHei"/>
              </a:rPr>
              <a:t>③ 统一分析接口</a:t>
            </a:r>
          </a:p>
          <a:p>
            <a:pPr algn="ctr">
              <a:lnSpc>
                <a:spcPct val="103000"/>
              </a:lnSpc>
            </a:pPr>
            <a:r>
              <a:rPr sz="1450" b="0" u="none">
                <a:solidFill>
                  <a:srgbClr val="2E2E2E"/>
                </a:solidFill>
                <a:latin typeface="Microsoft YaHei"/>
                <a:ea typeface="Microsoft YaHei"/>
                <a:cs typeface="Microsoft YaHei"/>
              </a:rPr>
              <a:t>POST /api/v1/analyze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89720" y="1298448"/>
            <a:ext cx="2633472" cy="1874519"/>
          </a:xfrm>
          <a:prstGeom prst="roundRect">
            <a:avLst>
              <a:gd name="adj" fmla="val 11000"/>
            </a:avLst>
          </a:prstGeom>
          <a:solidFill>
            <a:srgbClr val="C7B8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_gp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22408" y="1426464"/>
            <a:ext cx="768096" cy="76809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244584" y="2194560"/>
            <a:ext cx="2523744" cy="941831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3000"/>
              </a:lnSpc>
            </a:pPr>
            <a:r>
              <a:rPr sz="1450" b="1" u="none">
                <a:solidFill>
                  <a:srgbClr val="2E2E2E"/>
                </a:solidFill>
                <a:latin typeface="Microsoft YaHei"/>
                <a:ea typeface="Microsoft YaHei"/>
                <a:cs typeface="Microsoft YaHei"/>
              </a:rPr>
              <a:t>④ GPU 推理</a:t>
            </a:r>
          </a:p>
          <a:p>
            <a:pPr algn="ctr">
              <a:lnSpc>
                <a:spcPct val="103000"/>
              </a:lnSpc>
            </a:pPr>
            <a:r>
              <a:rPr sz="1450" b="1" u="none">
                <a:solidFill>
                  <a:srgbClr val="2E2E2E"/>
                </a:solidFill>
                <a:latin typeface="Microsoft YaHei"/>
                <a:ea typeface="Microsoft YaHei"/>
                <a:cs typeface="Microsoft YaHei"/>
              </a:rPr>
              <a:t>ExplanationPipeline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07792" y="2235708"/>
            <a:ext cx="310896" cy="0"/>
          </a:xfrm>
          <a:prstGeom prst="line">
            <a:avLst/>
          </a:prstGeom>
          <a:ln w="38100">
            <a:solidFill>
              <a:srgbClr val="1E1E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760720" y="2235708"/>
            <a:ext cx="310896" cy="0"/>
          </a:xfrm>
          <a:prstGeom prst="line">
            <a:avLst/>
          </a:prstGeom>
          <a:ln w="38100">
            <a:solidFill>
              <a:srgbClr val="1E1E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860536" y="2235708"/>
            <a:ext cx="329184" cy="0"/>
          </a:xfrm>
          <a:prstGeom prst="line">
            <a:avLst/>
          </a:prstGeom>
          <a:ln w="38100">
            <a:solidFill>
              <a:srgbClr val="1E1E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506456" y="3172968"/>
            <a:ext cx="0" cy="621792"/>
          </a:xfrm>
          <a:prstGeom prst="line">
            <a:avLst/>
          </a:prstGeom>
          <a:ln w="38100">
            <a:solidFill>
              <a:srgbClr val="1E1E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589520" y="3794760"/>
            <a:ext cx="4233672" cy="2331720"/>
          </a:xfrm>
          <a:prstGeom prst="roundRect">
            <a:avLst>
              <a:gd name="adj" fmla="val 4500"/>
            </a:avLst>
          </a:prstGeom>
          <a:solidFill>
            <a:srgbClr val="DDEBD8"/>
          </a:solidFill>
          <a:ln w="17780">
            <a:solidFill>
              <a:srgbClr val="A0A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44384" y="3867912"/>
            <a:ext cx="4123944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3000"/>
              </a:lnSpc>
            </a:pPr>
            <a:r>
              <a:rPr sz="1600" b="1" u="sng">
                <a:solidFill>
                  <a:srgbClr val="242424"/>
                </a:solidFill>
                <a:latin typeface="Microsoft YaHei"/>
                <a:ea typeface="Microsoft YaHei"/>
                <a:cs typeface="Microsoft YaHei"/>
              </a:rPr>
              <a:t>⑤ 证据渲染（分栏）</a:t>
            </a:r>
          </a:p>
        </p:txBody>
      </p:sp>
      <p:pic>
        <p:nvPicPr>
          <p:cNvPr id="20" name="Picture 19" descr="icon_pane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26679" y="4224528"/>
            <a:ext cx="658368" cy="658368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7772400" y="4892040"/>
            <a:ext cx="1243584" cy="1097280"/>
          </a:xfrm>
          <a:prstGeom prst="roundRect">
            <a:avLst>
              <a:gd name="adj" fmla="val 13000"/>
            </a:avLst>
          </a:prstGeom>
          <a:solidFill>
            <a:srgbClr val="B6D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lnSpc>
                <a:spcPct val="103000"/>
              </a:lnSpc>
            </a:pPr>
            <a:r>
              <a:rPr sz="1250" b="0" u="none">
                <a:solidFill>
                  <a:srgbClr val="2E2E2E"/>
                </a:solidFill>
                <a:latin typeface="Microsoft YaHei"/>
                <a:ea typeface="Microsoft YaHei"/>
                <a:cs typeface="Microsoft YaHei"/>
              </a:rPr>
              <a:t>全局</a:t>
            </a:r>
          </a:p>
          <a:p>
            <a:pPr algn="ctr">
              <a:lnSpc>
                <a:spcPct val="103000"/>
              </a:lnSpc>
            </a:pPr>
            <a:r>
              <a:rPr sz="1250" b="0" u="none">
                <a:solidFill>
                  <a:srgbClr val="2E2E2E"/>
                </a:solidFill>
                <a:latin typeface="Microsoft YaHei"/>
                <a:ea typeface="Microsoft YaHei"/>
                <a:cs typeface="Microsoft YaHei"/>
              </a:rPr>
              <a:t>label</a:t>
            </a:r>
          </a:p>
          <a:p>
            <a:pPr algn="ctr">
              <a:lnSpc>
                <a:spcPct val="103000"/>
              </a:lnSpc>
            </a:pPr>
            <a:r>
              <a:rPr sz="1250" b="0" u="none">
                <a:solidFill>
                  <a:srgbClr val="2E2E2E"/>
                </a:solidFill>
                <a:latin typeface="Microsoft YaHei"/>
                <a:ea typeface="Microsoft YaHei"/>
                <a:cs typeface="Microsoft YaHei"/>
              </a:rPr>
              <a:t>fake_prob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62288" y="4892040"/>
            <a:ext cx="1298448" cy="1097280"/>
          </a:xfrm>
          <a:prstGeom prst="roundRect">
            <a:avLst>
              <a:gd name="adj" fmla="val 13000"/>
            </a:avLst>
          </a:prstGeom>
          <a:solidFill>
            <a:srgbClr val="F1C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lnSpc>
                <a:spcPct val="103000"/>
              </a:lnSpc>
            </a:pPr>
            <a:r>
              <a:rPr sz="1250" b="0" u="none">
                <a:solidFill>
                  <a:srgbClr val="2E2E2E"/>
                </a:solidFill>
                <a:latin typeface="Microsoft YaHei"/>
                <a:ea typeface="Microsoft YaHei"/>
                <a:cs typeface="Microsoft YaHei"/>
              </a:rPr>
              <a:t>局部</a:t>
            </a:r>
          </a:p>
          <a:p>
            <a:pPr algn="ctr">
              <a:lnSpc>
                <a:spcPct val="103000"/>
              </a:lnSpc>
            </a:pPr>
            <a:r>
              <a:rPr sz="1250" b="0" u="none">
                <a:solidFill>
                  <a:srgbClr val="2E2E2E"/>
                </a:solidFill>
                <a:latin typeface="Microsoft YaHei"/>
                <a:ea typeface="Microsoft YaHei"/>
                <a:cs typeface="Microsoft YaHei"/>
              </a:rPr>
              <a:t>tamper</a:t>
            </a:r>
          </a:p>
          <a:p>
            <a:pPr algn="ctr">
              <a:lnSpc>
                <a:spcPct val="103000"/>
              </a:lnSpc>
            </a:pPr>
            <a:r>
              <a:rPr sz="1250" b="0" u="none">
                <a:solidFill>
                  <a:srgbClr val="2E2E2E"/>
                </a:solidFill>
                <a:latin typeface="Microsoft YaHei"/>
                <a:ea typeface="Microsoft YaHei"/>
                <a:cs typeface="Microsoft YaHei"/>
              </a:rPr>
              <a:t>bbox/热力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588752" y="4892040"/>
            <a:ext cx="1097280" cy="1097280"/>
          </a:xfrm>
          <a:prstGeom prst="roundRect">
            <a:avLst>
              <a:gd name="adj" fmla="val 13000"/>
            </a:avLst>
          </a:prstGeom>
          <a:solidFill>
            <a:srgbClr val="A9D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lnSpc>
                <a:spcPct val="103000"/>
              </a:lnSpc>
            </a:pPr>
            <a:r>
              <a:rPr sz="1250" b="0" u="none">
                <a:solidFill>
                  <a:srgbClr val="2E2E2E"/>
                </a:solidFill>
                <a:latin typeface="Microsoft YaHei"/>
                <a:ea typeface="Microsoft YaHei"/>
                <a:cs typeface="Microsoft YaHei"/>
              </a:rPr>
              <a:t>风险</a:t>
            </a:r>
          </a:p>
          <a:p>
            <a:pPr algn="ctr">
              <a:lnSpc>
                <a:spcPct val="103000"/>
              </a:lnSpc>
            </a:pPr>
            <a:r>
              <a:rPr sz="1250" b="0" u="none">
                <a:solidFill>
                  <a:srgbClr val="2E2E2E"/>
                </a:solidFill>
                <a:latin typeface="Microsoft YaHei"/>
                <a:ea typeface="Microsoft YaHei"/>
                <a:cs typeface="Microsoft YaHei"/>
              </a:rPr>
              <a:t>low/med</a:t>
            </a:r>
          </a:p>
          <a:p>
            <a:pPr algn="ctr">
              <a:lnSpc>
                <a:spcPct val="103000"/>
              </a:lnSpc>
            </a:pPr>
            <a:r>
              <a:rPr sz="1250" b="0" u="none">
                <a:solidFill>
                  <a:srgbClr val="2E2E2E"/>
                </a:solidFill>
                <a:latin typeface="Microsoft YaHei"/>
                <a:ea typeface="Microsoft YaHei"/>
                <a:cs typeface="Microsoft YaHei"/>
              </a:rPr>
              <a:t>/high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69080" y="3931920"/>
            <a:ext cx="3063240" cy="1874519"/>
          </a:xfrm>
          <a:prstGeom prst="roundRect">
            <a:avLst>
              <a:gd name="adj" fmla="val 11000"/>
            </a:avLst>
          </a:prstGeom>
          <a:solidFill>
            <a:srgbClr val="ECD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con_revie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16652" y="4059935"/>
            <a:ext cx="768096" cy="76809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123944" y="4828031"/>
            <a:ext cx="2953512" cy="941831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3000"/>
              </a:lnSpc>
            </a:pPr>
            <a:r>
              <a:rPr sz="1350" b="0" u="none">
                <a:solidFill>
                  <a:srgbClr val="2E2E2E"/>
                </a:solidFill>
                <a:latin typeface="Microsoft YaHei"/>
                <a:ea typeface="Microsoft YaHei"/>
                <a:cs typeface="Microsoft YaHei"/>
              </a:rPr>
              <a:t>⑥ 人工复核</a:t>
            </a:r>
          </a:p>
          <a:p>
            <a:pPr algn="ctr">
              <a:lnSpc>
                <a:spcPct val="103000"/>
              </a:lnSpc>
            </a:pPr>
            <a:r>
              <a:rPr sz="1350" b="0" u="none">
                <a:solidFill>
                  <a:srgbClr val="2E2E2E"/>
                </a:solidFill>
                <a:latin typeface="Microsoft YaHei"/>
                <a:ea typeface="Microsoft YaHei"/>
                <a:cs typeface="Microsoft YaHei"/>
              </a:rPr>
              <a:t>证据冲突或退化→转人工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3931920"/>
            <a:ext cx="3017520" cy="1874519"/>
          </a:xfrm>
          <a:prstGeom prst="roundRect">
            <a:avLst>
              <a:gd name="adj" fmla="val 11000"/>
            </a:avLst>
          </a:prstGeom>
          <a:solidFill>
            <a:srgbClr val="D5D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con_repor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36192" y="4059935"/>
            <a:ext cx="768096" cy="76809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66344" y="4828031"/>
            <a:ext cx="2907791" cy="941831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3000"/>
              </a:lnSpc>
            </a:pPr>
            <a:r>
              <a:rPr sz="1400" b="1" u="none">
                <a:solidFill>
                  <a:srgbClr val="2E2E2E"/>
                </a:solidFill>
                <a:latin typeface="Microsoft YaHei"/>
                <a:ea typeface="Microsoft YaHei"/>
                <a:cs typeface="Microsoft YaHei"/>
              </a:rPr>
              <a:t>⑦ 单图检测报告导出</a:t>
            </a:r>
          </a:p>
          <a:p>
            <a:pPr algn="ctr">
              <a:lnSpc>
                <a:spcPct val="103000"/>
              </a:lnSpc>
            </a:pPr>
            <a:r>
              <a:rPr sz="1400" b="1" u="none">
                <a:solidFill>
                  <a:srgbClr val="2E2E2E"/>
                </a:solidFill>
                <a:latin typeface="Microsoft YaHei"/>
                <a:ea typeface="Microsoft YaHei"/>
                <a:cs typeface="Microsoft YaHei"/>
              </a:rPr>
              <a:t>（HTML）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7132320" y="4864608"/>
            <a:ext cx="457200" cy="0"/>
          </a:xfrm>
          <a:prstGeom prst="line">
            <a:avLst/>
          </a:prstGeom>
          <a:ln w="38100">
            <a:solidFill>
              <a:srgbClr val="1E1E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3429000" y="4864608"/>
            <a:ext cx="640080" cy="0"/>
          </a:xfrm>
          <a:prstGeom prst="line">
            <a:avLst/>
          </a:prstGeom>
          <a:ln w="38100">
            <a:solidFill>
              <a:srgbClr val="1E1E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11480" y="6144768"/>
            <a:ext cx="5806440" cy="566928"/>
          </a:xfrm>
          <a:prstGeom prst="roundRect">
            <a:avLst>
              <a:gd name="adj" fmla="val 10000"/>
            </a:avLst>
          </a:prstGeom>
          <a:solidFill>
            <a:srgbClr val="FBFBFC"/>
          </a:solidFill>
          <a:ln w="12700">
            <a:solidFill>
              <a:srgbClr val="5E5E5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lnSpc>
                <a:spcPct val="103000"/>
              </a:lnSpc>
            </a:pPr>
            <a:r>
              <a:rPr sz="1300" b="0" u="none">
                <a:solidFill>
                  <a:srgbClr val="2E2E2E"/>
                </a:solidFill>
                <a:latin typeface="Microsoft YaHei"/>
                <a:ea typeface="Microsoft YaHei"/>
                <a:cs typeface="Microsoft YaHei"/>
              </a:rPr>
              <a:t>界面状态反馈：loading / empty / error 三态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6199632"/>
            <a:ext cx="5394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3000"/>
              </a:lnSpc>
            </a:pPr>
            <a:r>
              <a:rPr sz="1200" b="0" u="none">
                <a:solidFill>
                  <a:srgbClr val="5E5E5E"/>
                </a:solidFill>
                <a:latin typeface="Microsoft YaHei"/>
                <a:ea typeface="Microsoft YaHei"/>
                <a:cs typeface="Microsoft YaHei"/>
              </a:rPr>
              <a:t>实线箭头：主数据流（首行左→右，折返续接下一行）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1417320"/>
            <a:ext cx="3502152" cy="4160520"/>
          </a:xfrm>
          <a:prstGeom prst="roundRect">
            <a:avLst>
              <a:gd name="adj" fmla="val 3000"/>
            </a:avLst>
          </a:prstGeom>
          <a:solidFill>
            <a:srgbClr val="F5F5F8"/>
          </a:solidFill>
          <a:ln w="20320">
            <a:solidFill>
              <a:srgbClr val="5E5E5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39595" y="2377440"/>
            <a:ext cx="1828800" cy="1554480"/>
          </a:xfrm>
          <a:prstGeom prst="rect">
            <a:avLst/>
          </a:prstGeom>
          <a:solidFill>
            <a:srgbClr val="FFFFFF"/>
          </a:solidFill>
          <a:ln w="17780">
            <a:solidFill>
              <a:srgbClr val="5E5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94460" y="2432304"/>
            <a:ext cx="1719072" cy="854964"/>
          </a:xfrm>
          <a:prstGeom prst="rect">
            <a:avLst/>
          </a:prstGeom>
          <a:solidFill>
            <a:srgbClr val="DC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73452" y="2595067"/>
            <a:ext cx="329184" cy="329184"/>
          </a:xfrm>
          <a:prstGeom prst="ellipse">
            <a:avLst/>
          </a:prstGeom>
          <a:solidFill>
            <a:srgbClr val="F6C7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>
            <a:off x="1559051" y="2843784"/>
            <a:ext cx="914400" cy="621792"/>
          </a:xfrm>
          <a:prstGeom prst="triangle">
            <a:avLst/>
          </a:prstGeom>
          <a:solidFill>
            <a:srgbClr val="7FB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>
            <a:off x="2107691" y="2905963"/>
            <a:ext cx="804672" cy="559612"/>
          </a:xfrm>
          <a:prstGeom prst="triangle">
            <a:avLst/>
          </a:prstGeom>
          <a:solidFill>
            <a:srgbClr val="5F9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94460" y="3341217"/>
            <a:ext cx="1719072" cy="497433"/>
          </a:xfrm>
          <a:prstGeom prst="rect">
            <a:avLst/>
          </a:prstGeom>
          <a:solidFill>
            <a:srgbClr val="E9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508760"/>
            <a:ext cx="341071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3000"/>
              </a:lnSpc>
            </a:pPr>
            <a:r>
              <a:rPr sz="1700" b="1" u="none">
                <a:solidFill>
                  <a:srgbClr val="242424"/>
                </a:solidFill>
                <a:latin typeface="Microsoft YaHei"/>
                <a:ea typeface="Microsoft YaHei"/>
                <a:cs typeface="Microsoft YaHei"/>
              </a:rPr>
              <a:t>a  输入图像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074920"/>
            <a:ext cx="3410712" cy="4114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3000"/>
              </a:lnSpc>
            </a:pPr>
            <a:r>
              <a:rPr sz="1250" b="0" u="none">
                <a:solidFill>
                  <a:srgbClr val="5E5E5E"/>
                </a:solidFill>
                <a:latin typeface="Microsoft YaHei"/>
                <a:ea typeface="Microsoft YaHei"/>
                <a:cs typeface="Microsoft YaHei"/>
              </a:rPr>
              <a:t>（示意样式，待填真实截图）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417320"/>
            <a:ext cx="3502152" cy="4160520"/>
          </a:xfrm>
          <a:prstGeom prst="roundRect">
            <a:avLst>
              <a:gd name="adj" fmla="val 3000"/>
            </a:avLst>
          </a:prstGeom>
          <a:solidFill>
            <a:srgbClr val="F5F5F8"/>
          </a:solidFill>
          <a:ln w="20320">
            <a:solidFill>
              <a:srgbClr val="5E5E5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gradc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157983"/>
            <a:ext cx="2496312" cy="2496312"/>
          </a:xfrm>
          <a:prstGeom prst="rect">
            <a:avLst/>
          </a:prstGeom>
          <a:ln>
            <a:noFill/>
          </a:ln>
        </p:spPr>
      </p:pic>
      <p:sp>
        <p:nvSpPr>
          <p:cNvPr id="13" name="TextBox 12"/>
          <p:cNvSpPr txBox="1"/>
          <p:nvPr/>
        </p:nvSpPr>
        <p:spPr>
          <a:xfrm>
            <a:off x="4389120" y="1508760"/>
            <a:ext cx="341071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3000"/>
              </a:lnSpc>
            </a:pPr>
            <a:r>
              <a:rPr sz="1700" b="1" u="none">
                <a:solidFill>
                  <a:srgbClr val="242424"/>
                </a:solidFill>
                <a:latin typeface="Microsoft YaHei"/>
                <a:ea typeface="Microsoft YaHei"/>
                <a:cs typeface="Microsoft YaHei"/>
              </a:rPr>
              <a:t>b  Stage2 Grad-CAM 叠加图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5074920"/>
            <a:ext cx="3410712" cy="4114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3000"/>
              </a:lnSpc>
            </a:pPr>
            <a:r>
              <a:rPr sz="1250" b="0" u="none">
                <a:solidFill>
                  <a:srgbClr val="5E5E5E"/>
                </a:solidFill>
                <a:latin typeface="Microsoft YaHei"/>
                <a:ea typeface="Microsoft YaHei"/>
                <a:cs typeface="Microsoft YaHei"/>
              </a:rPr>
              <a:t>（示意样式，待填真实截图）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79" y="1417320"/>
            <a:ext cx="3502152" cy="4160520"/>
          </a:xfrm>
          <a:prstGeom prst="roundRect">
            <a:avLst>
              <a:gd name="adj" fmla="val 3000"/>
            </a:avLst>
          </a:prstGeom>
          <a:solidFill>
            <a:srgbClr val="F5F5F8"/>
          </a:solidFill>
          <a:ln w="20320">
            <a:solidFill>
              <a:srgbClr val="5E5E5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b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2157983"/>
            <a:ext cx="2496312" cy="2496312"/>
          </a:xfrm>
          <a:prstGeom prst="rect">
            <a:avLst/>
          </a:prstGeom>
          <a:ln>
            <a:noFill/>
          </a:ln>
        </p:spPr>
      </p:pic>
      <p:sp>
        <p:nvSpPr>
          <p:cNvPr id="17" name="TextBox 16"/>
          <p:cNvSpPr txBox="1"/>
          <p:nvPr/>
        </p:nvSpPr>
        <p:spPr>
          <a:xfrm>
            <a:off x="8229600" y="1508760"/>
            <a:ext cx="341071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3000"/>
              </a:lnSpc>
            </a:pPr>
            <a:r>
              <a:rPr sz="1700" b="1" u="none">
                <a:solidFill>
                  <a:srgbClr val="242424"/>
                </a:solidFill>
                <a:latin typeface="Microsoft YaHei"/>
                <a:ea typeface="Microsoft YaHei"/>
                <a:cs typeface="Microsoft YaHei"/>
              </a:rPr>
              <a:t>c  局部定位可疑区域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5074920"/>
            <a:ext cx="3410712" cy="4114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3000"/>
              </a:lnSpc>
            </a:pPr>
            <a:r>
              <a:rPr sz="1250" b="0" u="none">
                <a:solidFill>
                  <a:srgbClr val="5E5E5E"/>
                </a:solidFill>
                <a:latin typeface="Microsoft YaHei"/>
                <a:ea typeface="Microsoft YaHei"/>
                <a:cs typeface="Microsoft YaHei"/>
              </a:rPr>
              <a:t>（示意样式，待填真实截图）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870448"/>
            <a:ext cx="1118311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3000"/>
              </a:lnSpc>
            </a:pPr>
            <a:r>
              <a:rPr sz="1300" b="0" u="none">
                <a:solidFill>
                  <a:srgbClr val="5E5E5E"/>
                </a:solidFill>
                <a:latin typeface="Microsoft YaHei"/>
                <a:ea typeface="Microsoft YaHei"/>
                <a:cs typeface="Microsoft YaHei"/>
              </a:rPr>
              <a:t>占位：示意图仅表示每格应呈现的内容形态，最终由成员填入真实检测截图，不得伪造检测结果。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